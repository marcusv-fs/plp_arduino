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58" r:id="rId4"/>
    <p:sldId id="261" r:id="rId5"/>
    <p:sldId id="260" r:id="rId6"/>
    <p:sldId id="276" r:id="rId7"/>
    <p:sldId id="277" r:id="rId8"/>
    <p:sldId id="275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88128-BEC7-1BBB-E151-5DB28F219C1B}" v="21" dt="2025-10-30T11:18:38.253"/>
    <p1510:client id="{908B7DA0-D33B-B610-1B47-BF6CD94D47C4}" v="493" dt="2025-10-29T22:01:28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ário Convidado" providerId="Windows Live" clId="Web-{908B7DA0-D33B-B610-1B47-BF6CD94D47C4}"/>
    <pc:docChg chg="modSld">
      <pc:chgData name="Usuário Convidado" userId="" providerId="Windows Live" clId="Web-{908B7DA0-D33B-B610-1B47-BF6CD94D47C4}" dt="2025-10-29T22:01:28.041" v="498" actId="20577"/>
      <pc:docMkLst>
        <pc:docMk/>
      </pc:docMkLst>
      <pc:sldChg chg="modSp">
        <pc:chgData name="Usuário Convidado" userId="" providerId="Windows Live" clId="Web-{908B7DA0-D33B-B610-1B47-BF6CD94D47C4}" dt="2025-10-29T21:56:15.391" v="323" actId="14100"/>
        <pc:sldMkLst>
          <pc:docMk/>
          <pc:sldMk cId="2299977668" sldId="276"/>
        </pc:sldMkLst>
        <pc:spChg chg="mod">
          <ac:chgData name="Usuário Convidado" userId="" providerId="Windows Live" clId="Web-{908B7DA0-D33B-B610-1B47-BF6CD94D47C4}" dt="2025-10-29T21:56:15.391" v="323" actId="14100"/>
          <ac:spMkLst>
            <pc:docMk/>
            <pc:sldMk cId="2299977668" sldId="276"/>
            <ac:spMk id="88" creationId="{A30E598E-139F-9D41-9975-A3E77BC98718}"/>
          </ac:spMkLst>
        </pc:spChg>
      </pc:sldChg>
      <pc:sldChg chg="addSp delSp modSp">
        <pc:chgData name="Usuário Convidado" userId="" providerId="Windows Live" clId="Web-{908B7DA0-D33B-B610-1B47-BF6CD94D47C4}" dt="2025-10-29T22:01:28.041" v="498" actId="20577"/>
        <pc:sldMkLst>
          <pc:docMk/>
          <pc:sldMk cId="989634489" sldId="277"/>
        </pc:sldMkLst>
        <pc:spChg chg="mod">
          <ac:chgData name="Usuário Convidado" userId="" providerId="Windows Live" clId="Web-{908B7DA0-D33B-B610-1B47-BF6CD94D47C4}" dt="2025-10-29T21:59:16.225" v="384" actId="20577"/>
          <ac:spMkLst>
            <pc:docMk/>
            <pc:sldMk cId="989634489" sldId="277"/>
            <ac:spMk id="3" creationId="{691B1471-89D4-2A72-CAE2-2A1E7D286EEC}"/>
          </ac:spMkLst>
        </pc:spChg>
        <pc:spChg chg="add del mod">
          <ac:chgData name="Usuário Convidado" userId="" providerId="Windows Live" clId="Web-{908B7DA0-D33B-B610-1B47-BF6CD94D47C4}" dt="2025-10-29T21:56:15.063" v="322"/>
          <ac:spMkLst>
            <pc:docMk/>
            <pc:sldMk cId="989634489" sldId="277"/>
            <ac:spMk id="4" creationId="{51B91820-62B3-E135-DBCE-C5E0B524D509}"/>
          </ac:spMkLst>
        </pc:spChg>
        <pc:spChg chg="add mod">
          <ac:chgData name="Usuário Convidado" userId="" providerId="Windows Live" clId="Web-{908B7DA0-D33B-B610-1B47-BF6CD94D47C4}" dt="2025-10-29T22:01:28.041" v="498" actId="20577"/>
          <ac:spMkLst>
            <pc:docMk/>
            <pc:sldMk cId="989634489" sldId="277"/>
            <ac:spMk id="6" creationId="{848A62AE-D0D3-F41B-6A72-0EFB22483815}"/>
          </ac:spMkLst>
        </pc:spChg>
      </pc:sldChg>
    </pc:docChg>
  </pc:docChgLst>
  <pc:docChgLst>
    <pc:chgData name="Usuário Convidado" providerId="Windows Live" clId="Web-{03A88128-BEC7-1BBB-E151-5DB28F219C1B}"/>
    <pc:docChg chg="addSld delSld modSld">
      <pc:chgData name="Usuário Convidado" userId="" providerId="Windows Live" clId="Web-{03A88128-BEC7-1BBB-E151-5DB28F219C1B}" dt="2025-10-30T11:18:38.253" v="19"/>
      <pc:docMkLst>
        <pc:docMk/>
      </pc:docMkLst>
      <pc:sldChg chg="delSp modSp add del replId">
        <pc:chgData name="Usuário Convidado" userId="" providerId="Windows Live" clId="Web-{03A88128-BEC7-1BBB-E151-5DB28F219C1B}" dt="2025-10-30T11:18:38.253" v="19"/>
        <pc:sldMkLst>
          <pc:docMk/>
          <pc:sldMk cId="3089869828" sldId="278"/>
        </pc:sldMkLst>
        <pc:spChg chg="mod">
          <ac:chgData name="Usuário Convidado" userId="" providerId="Windows Live" clId="Web-{03A88128-BEC7-1BBB-E151-5DB28F219C1B}" dt="2025-10-30T11:16:00.250" v="2" actId="20577"/>
          <ac:spMkLst>
            <pc:docMk/>
            <pc:sldMk cId="3089869828" sldId="278"/>
            <ac:spMk id="2" creationId="{22B1546C-F989-071F-7C20-89F58B65C310}"/>
          </ac:spMkLst>
        </pc:spChg>
        <pc:spChg chg="mod">
          <ac:chgData name="Usuário Convidado" userId="" providerId="Windows Live" clId="Web-{03A88128-BEC7-1BBB-E151-5DB28F219C1B}" dt="2025-10-30T11:16:46.751" v="18" actId="14100"/>
          <ac:spMkLst>
            <pc:docMk/>
            <pc:sldMk cId="3089869828" sldId="278"/>
            <ac:spMk id="3" creationId="{E1B36E56-0E71-461F-AA68-5B0AFD2D3CBC}"/>
          </ac:spMkLst>
        </pc:spChg>
        <pc:spChg chg="del">
          <ac:chgData name="Usuário Convidado" userId="" providerId="Windows Live" clId="Web-{03A88128-BEC7-1BBB-E151-5DB28F219C1B}" dt="2025-10-30T11:16:10.391" v="5"/>
          <ac:spMkLst>
            <pc:docMk/>
            <pc:sldMk cId="3089869828" sldId="278"/>
            <ac:spMk id="6" creationId="{4A4F4E79-AFC6-5A12-13AA-7F3F8D00F260}"/>
          </ac:spMkLst>
        </pc:spChg>
      </pc:sldChg>
    </pc:docChg>
  </pc:docChgLst>
  <pc:docChgLst>
    <pc:chgData name="Marcus Vinícius de Faria Santos" userId="f3ba05d3ad3c9305" providerId="LiveId" clId="{744A556E-C55C-43AE-946F-9917EC8125F8}"/>
    <pc:docChg chg="addSld modSld">
      <pc:chgData name="Marcus Vinícius de Faria Santos" userId="f3ba05d3ad3c9305" providerId="LiveId" clId="{744A556E-C55C-43AE-946F-9917EC8125F8}" dt="2025-10-25T20:25:58.754" v="7" actId="20577"/>
      <pc:docMkLst>
        <pc:docMk/>
      </pc:docMkLst>
      <pc:sldChg chg="modSp new mod">
        <pc:chgData name="Marcus Vinícius de Faria Santos" userId="f3ba05d3ad3c9305" providerId="LiveId" clId="{744A556E-C55C-43AE-946F-9917EC8125F8}" dt="2025-10-25T20:25:58.754" v="7" actId="20577"/>
        <pc:sldMkLst>
          <pc:docMk/>
          <pc:sldMk cId="989634489" sldId="277"/>
        </pc:sldMkLst>
        <pc:spChg chg="mod">
          <ac:chgData name="Marcus Vinícius de Faria Santos" userId="f3ba05d3ad3c9305" providerId="LiveId" clId="{744A556E-C55C-43AE-946F-9917EC8125F8}" dt="2025-10-25T20:25:58.754" v="7" actId="20577"/>
          <ac:spMkLst>
            <pc:docMk/>
            <pc:sldMk cId="989634489" sldId="277"/>
            <ac:spMk id="2" creationId="{856C3AA5-6B36-E685-41EC-2124DDE10D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F877C1D-E49F-2DEB-8F46-837FAD80A1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>
              <a:latin typeface="Arial" panose="020B0604020202020204" pitchFamily="34" charset="0"/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E9121A-C638-9C57-85A7-0CD458F82A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6750C-12AD-4A80-8774-65D8751A4E86}" type="datetimeFigureOut">
              <a:rPr lang="pt-BR" smtClean="0">
                <a:latin typeface="Arial" panose="020B0604020202020204" pitchFamily="34" charset="0"/>
              </a:rPr>
              <a:t>30/10/2025</a:t>
            </a:fld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A96801-1C28-BF63-A8C0-D56BD7A13D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>
              <a:latin typeface="Arial" panose="020B0604020202020204" pitchFamily="34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BF3FD2-90AA-7EAA-2343-ABCBC9DE42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5DE2E-E149-49D0-B862-EB181B6454C8}" type="slidenum">
              <a:rPr lang="pt-BR" smtClean="0">
                <a:latin typeface="Arial" panose="020B0604020202020204" pitchFamily="34" charset="0"/>
              </a:rPr>
              <a:t>‹nº›</a:t>
            </a:fld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37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319a7d4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319a7d4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318fdc84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318fdc84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18fdc84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18fdc84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318fdc84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318fdc84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318fdc84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318fdc84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6F794B9-3E30-30A9-6C05-97653310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318fdc848_0_50:notes">
            <a:extLst>
              <a:ext uri="{FF2B5EF4-FFF2-40B4-BE49-F238E27FC236}">
                <a16:creationId xmlns:a16="http://schemas.microsoft.com/office/drawing/2014/main" id="{C4D55727-5C48-F3BF-FBCD-9A516A722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318fdc848_0_50:notes">
            <a:extLst>
              <a:ext uri="{FF2B5EF4-FFF2-40B4-BE49-F238E27FC236}">
                <a16:creationId xmlns:a16="http://schemas.microsoft.com/office/drawing/2014/main" id="{C37D107B-B547-373B-DF29-C17DAF45B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064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319a7d4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319a7d4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6" name="Google Shape;16;p2" descr="E:\05.03.18 bkp\Documentos\João Victor\UFPE\CIn\Redesign logo CIn\Logotipo CIn-UFPE - Versões\CIn + UFPE\PNG\Horzontal Monocromático Branco - Logotipo CIn + UFP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1693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/>
              <a:t>Teste 1</a:t>
            </a:r>
          </a:p>
          <a:p>
            <a:pPr lvl="1"/>
            <a:r>
              <a:rPr lang="pt-BR"/>
              <a:t>Teste 1.1</a:t>
            </a:r>
          </a:p>
          <a:p>
            <a:pPr lvl="2"/>
            <a:r>
              <a:rPr lang="pt-BR"/>
              <a:t>Teste 1.1.1</a:t>
            </a:r>
          </a:p>
          <a:p>
            <a:pPr lvl="1"/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rduino.cc/language-reference/fun&#231;&#245;es/time/delay/" TargetMode="External"/><Relationship Id="rId3" Type="http://schemas.openxmlformats.org/officeDocument/2006/relationships/hyperlink" Target="https://docs.arduino.cc/language-reference/fun&#231;&#245;es/digital-io/digitalread/" TargetMode="External"/><Relationship Id="rId7" Type="http://schemas.openxmlformats.org/officeDocument/2006/relationships/hyperlink" Target="https://docs.arduino.cc/language-reference/fun&#231;&#245;es/digital-io/pinMod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arduino.cc/language-reference/fun&#231;&#245;es/digital-io/digitalwrite/" TargetMode="External"/><Relationship Id="rId5" Type="http://schemas.openxmlformats.org/officeDocument/2006/relationships/hyperlink" Target="https://docs.arduino.cc/language-reference/fun&#231;&#245;es/analog-io/analogWrite/" TargetMode="External"/><Relationship Id="rId4" Type="http://schemas.openxmlformats.org/officeDocument/2006/relationships/hyperlink" Target="https://docs.arduino.cc/language-reference/fun&#231;&#245;es/analog-io/analogRead/" TargetMode="External"/><Relationship Id="rId9" Type="http://schemas.openxmlformats.org/officeDocument/2006/relationships/hyperlink" Target="https://docs.arduino.cc/language-reference/fun&#231;&#245;es/random-numbers/rand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4800" b="0"/>
              <a:t>Desenvolvimento de uma DSL para projetos em Arduino</a:t>
            </a:r>
            <a:endParaRPr sz="320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	 	</a:t>
            </a:r>
            <a:endParaRPr sz="15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lt1"/>
                </a:solidFill>
              </a:rPr>
              <a:t>Gabriel B. M. Melo, Giovanna T. A. Araújo, Marcus V. F. Santos</a:t>
            </a:r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4940347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O que é o Arduino?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kumimoji="0" lang="pt-BR" sz="134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  <a:sym typeface="Arial"/>
              </a:rPr>
              <a:t>Plataforma de desenvolvimento de projetos eletrônicos.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Open-</a:t>
            </a:r>
            <a:r>
              <a:rPr lang="pt-BR" sz="1340" err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Source</a:t>
            </a: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 e de baixo custo.</a:t>
            </a:r>
            <a:endParaRPr lang="pt-BR" sz="1040" b="1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Para que serve?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Prototipagem rápida e barata de diversos projetos.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Compatibilidade com centenas de sensores e atuadores.</a:t>
            </a:r>
            <a:endParaRPr lang="pt-BR" sz="144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Como se programa para Arduíno?</a:t>
            </a:r>
            <a:endParaRPr sz="1440" b="1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914400" marR="0" lvl="1" indent="-3136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Em geral, utiliza-se uma IDE própria, o Arduino IDE.</a:t>
            </a:r>
          </a:p>
          <a:p>
            <a:pPr marL="914400" marR="0" lvl="1" indent="-3136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Linguagem: C/C++</a:t>
            </a:r>
            <a:endParaRPr sz="134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" name="Imagem 2" descr="Uma imagem contendo eletrônico, circuito&#10;&#10;O conteúdo gerado por IA pode estar incorreto.">
            <a:extLst>
              <a:ext uri="{FF2B5EF4-FFF2-40B4-BE49-F238E27FC236}">
                <a16:creationId xmlns:a16="http://schemas.microsoft.com/office/drawing/2014/main" id="{E45E302A-2600-0C28-86F2-7EACA2C5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86" y="903592"/>
            <a:ext cx="3251567" cy="1829006"/>
          </a:xfrm>
          <a:prstGeom prst="rect">
            <a:avLst/>
          </a:prstGeom>
        </p:spPr>
      </p:pic>
      <p:pic>
        <p:nvPicPr>
          <p:cNvPr id="7" name="Imagem 6" descr="Circuito eletrônico com fios&#10;&#10;O conteúdo gerado por IA pode estar incorreto.">
            <a:extLst>
              <a:ext uri="{FF2B5EF4-FFF2-40B4-BE49-F238E27FC236}">
                <a16:creationId xmlns:a16="http://schemas.microsoft.com/office/drawing/2014/main" id="{F78568F8-A107-978E-9CFB-9B0B2CF44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86" y="2732598"/>
            <a:ext cx="3251567" cy="1950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</a:t>
            </a:r>
          </a:p>
        </p:txBody>
      </p:sp>
      <p:sp>
        <p:nvSpPr>
          <p:cNvPr id="11" name="Google Shape;81;p16">
            <a:extLst>
              <a:ext uri="{FF2B5EF4-FFF2-40B4-BE49-F238E27FC236}">
                <a16:creationId xmlns:a16="http://schemas.microsoft.com/office/drawing/2014/main" id="{5F8BF6B0-9952-7A85-9B67-03C8C2B86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4318971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22910" indent="-285750" algn="just">
              <a:buClr>
                <a:srgbClr val="161616"/>
              </a:buClr>
              <a:buSzPts val="1440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Apesar de muito utilizado para ensinar programação, é p</a:t>
            </a: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+mj-lt"/>
                <a:ea typeface="Arial"/>
                <a:cs typeface="Arial"/>
                <a:sym typeface="Arial"/>
              </a:rPr>
              <a:t>ouco intuitivo para não fluentes em inglês</a:t>
            </a:r>
            <a:r>
              <a:rPr kumimoji="0" lang="pt-BR" sz="144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highlight>
                  <a:srgbClr val="FFFFFF"/>
                </a:highlight>
                <a:uLnTx/>
                <a:uFillTx/>
                <a:latin typeface="+mj-lt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13" name="Imagem 1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40B5F2F-6C93-E79A-D92A-594AB6E5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-260" r="266" b="96"/>
          <a:stretch>
            <a:fillRect/>
          </a:stretch>
        </p:blipFill>
        <p:spPr>
          <a:xfrm>
            <a:off x="5118763" y="1136911"/>
            <a:ext cx="3382287" cy="3495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 proposta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413050" y="1345300"/>
            <a:ext cx="4437410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Desenvolvimento de uma DSL:</a:t>
            </a:r>
            <a:endParaRPr sz="1440" b="1">
              <a:solidFill>
                <a:srgbClr val="161616"/>
              </a:solidFill>
              <a:highlight>
                <a:srgbClr val="FFFFFF"/>
              </a:highlight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914400" marR="0" lvl="1" indent="-3200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○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Simplifica a Interação com o Hardware.</a:t>
            </a:r>
          </a:p>
          <a:p>
            <a:pPr marL="914400" marR="0" lvl="1" indent="-3200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○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Melhora a legibilidade do código.</a:t>
            </a:r>
          </a:p>
          <a:p>
            <a:pPr marL="914400" marR="0" lvl="1" indent="-3200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○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Acelera o desenvolvimento.</a:t>
            </a:r>
            <a:endParaRPr sz="1440">
              <a:solidFill>
                <a:srgbClr val="161616"/>
              </a:solidFill>
              <a:highlight>
                <a:srgbClr val="FFFFFF"/>
              </a:highlight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914400" marR="0" lvl="1" indent="-3200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○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Reduz erros de configuração.</a:t>
            </a:r>
            <a:endParaRPr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F00337ED-C4EF-4FB6-B882-FB3F74631E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6" r="5651"/>
          <a:stretch>
            <a:fillRect/>
          </a:stretch>
        </p:blipFill>
        <p:spPr>
          <a:xfrm>
            <a:off x="4949520" y="1447291"/>
            <a:ext cx="3650590" cy="224891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20A0028-E0CB-B227-0054-D3DB9861BB3C}"/>
              </a:ext>
            </a:extLst>
          </p:cNvPr>
          <p:cNvSpPr/>
          <p:nvPr/>
        </p:nvSpPr>
        <p:spPr>
          <a:xfrm>
            <a:off x="8043850" y="3239009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413050" y="1345300"/>
            <a:ext cx="7238700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Definir uma Gramática mais intuitiva.</a:t>
            </a: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Implementar um tradutor: DSL -&gt; C</a:t>
            </a: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No simulador </a:t>
            </a:r>
            <a:r>
              <a:rPr lang="pt-BR" sz="144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ThinkerCAD</a:t>
            </a: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, ser capaz de:</a:t>
            </a:r>
          </a:p>
          <a:p>
            <a:pPr lvl="1" indent="-320040">
              <a:spcBef>
                <a:spcPts val="0"/>
              </a:spcBef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Ler e escrever em portas digitais.</a:t>
            </a:r>
          </a:p>
          <a:p>
            <a:pPr lvl="2" indent="-320040">
              <a:spcBef>
                <a:spcPts val="0"/>
              </a:spcBef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Ligar e desligar um led.</a:t>
            </a:r>
          </a:p>
          <a:p>
            <a:pPr lvl="1" indent="-320040">
              <a:spcBef>
                <a:spcPts val="0"/>
              </a:spcBef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Ler e escrever valores analógicos.</a:t>
            </a:r>
          </a:p>
          <a:p>
            <a:pPr lvl="2" indent="-320040">
              <a:spcBef>
                <a:spcPts val="0"/>
              </a:spcBef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/>
                <a:sym typeface="Arial"/>
              </a:rPr>
              <a:t>Controlar um motor dc.</a:t>
            </a:r>
          </a:p>
          <a:p>
            <a:pPr lvl="1" indent="-320040">
              <a:spcBef>
                <a:spcPts val="0"/>
              </a:spcBef>
              <a:buClr>
                <a:srgbClr val="161616"/>
              </a:buClr>
              <a:buSzPts val="1440"/>
              <a:buFont typeface="Arial"/>
              <a:buChar char="●"/>
            </a:pPr>
            <a:endParaRPr lang="pt-BR"/>
          </a:p>
        </p:txBody>
      </p:sp>
      <p:pic>
        <p:nvPicPr>
          <p:cNvPr id="3" name="Imagem 2" descr="Circuito eletrônico com fios&#10;&#10;O conteúdo gerado por IA pode estar incorreto.">
            <a:extLst>
              <a:ext uri="{FF2B5EF4-FFF2-40B4-BE49-F238E27FC236}">
                <a16:creationId xmlns:a16="http://schemas.microsoft.com/office/drawing/2014/main" id="{D21A8F60-D402-92B1-613F-EA982776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82801"/>
            <a:ext cx="4224640" cy="3442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2E9F5B6-5639-E4A0-BF42-C18E90D02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8D35EBD6-7A18-8B8B-F45E-B39C7B02EB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Sintaxe: </a:t>
            </a:r>
            <a:endParaRPr/>
          </a:p>
        </p:txBody>
      </p:sp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A30E598E-139F-9D41-9975-A3E77BC98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3050" y="1185001"/>
            <a:ext cx="8088000" cy="3497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00"/>
              </a:spcBef>
            </a:pPr>
            <a:r>
              <a:rPr lang="pt-BR" sz="1400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Representar as estruturas clássicas na DSL:</a:t>
            </a:r>
          </a:p>
          <a:p>
            <a:pPr lvl="1">
              <a:spcBef>
                <a:spcPts val="100"/>
              </a:spcBef>
            </a:pPr>
            <a:r>
              <a:rPr lang="pt-BR" dirty="0" err="1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If</a:t>
            </a:r>
            <a:r>
              <a:rPr lang="pt-BR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, </a:t>
            </a:r>
            <a:r>
              <a:rPr lang="pt-BR" dirty="0" err="1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else</a:t>
            </a:r>
            <a:r>
              <a:rPr lang="pt-BR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, </a:t>
            </a:r>
            <a:r>
              <a:rPr lang="pt-BR" dirty="0" err="1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while</a:t>
            </a:r>
            <a:r>
              <a:rPr lang="pt-BR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, for, ...</a:t>
            </a:r>
            <a:endParaRPr lang="pt-BR" dirty="0">
              <a:solidFill>
                <a:srgbClr val="161616"/>
              </a:solidFill>
              <a:highlight>
                <a:srgbClr val="FFFFFF"/>
              </a:highlight>
              <a:latin typeface="+mj-lt"/>
              <a:cs typeface="Arial"/>
            </a:endParaRPr>
          </a:p>
          <a:p>
            <a:pPr>
              <a:spcBef>
                <a:spcPts val="100"/>
              </a:spcBef>
            </a:pPr>
            <a:r>
              <a:rPr lang="pt-BR" sz="1400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Representar algumas estruturas de Arduíno na DSL:</a:t>
            </a:r>
            <a:endParaRPr lang="pt-BR" sz="1400" dirty="0">
              <a:solidFill>
                <a:srgbClr val="0097A7"/>
              </a:solidFill>
              <a:latin typeface="+mj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>
              <a:spcBef>
                <a:spcPts val="100"/>
              </a:spcBef>
            </a:pPr>
            <a:r>
              <a:rPr lang="pt-BR" dirty="0">
                <a:solidFill>
                  <a:srgbClr val="0097A7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digitalRead(), </a:t>
            </a:r>
            <a:r>
              <a:rPr lang="pt-BR" dirty="0">
                <a:latin typeface="+mj-lt"/>
                <a:hlinkClick r:id="rId3"/>
              </a:rPr>
              <a:t>digitalWrite()</a:t>
            </a:r>
          </a:p>
          <a:p>
            <a:pPr lvl="1">
              <a:spcBef>
                <a:spcPts val="100"/>
              </a:spcBef>
            </a:pPr>
            <a:r>
              <a:rPr lang="pt-BR" dirty="0">
                <a:hlinkClick r:id="rId4"/>
              </a:rPr>
              <a:t>analogRead()</a:t>
            </a:r>
            <a:r>
              <a:rPr lang="pt-BR" dirty="0"/>
              <a:t>, </a:t>
            </a:r>
            <a:r>
              <a:rPr lang="pt-BR" dirty="0">
                <a:hlinkClick r:id="rId5"/>
              </a:rPr>
              <a:t>analogWrite()</a:t>
            </a:r>
            <a:endParaRPr lang="pt-BR" dirty="0">
              <a:latin typeface="+mj-lt"/>
              <a:hlinkClick r:id="rId6"/>
            </a:endParaRPr>
          </a:p>
          <a:p>
            <a:pPr lvl="1">
              <a:spcBef>
                <a:spcPts val="100"/>
              </a:spcBef>
            </a:pPr>
            <a:r>
              <a:rPr lang="pt-BR" dirty="0">
                <a:latin typeface="+mj-lt"/>
                <a:hlinkClick r:id="rId7"/>
              </a:rPr>
              <a:t>pinMode()</a:t>
            </a:r>
            <a:r>
              <a:rPr lang="pt-BR" dirty="0">
                <a:latin typeface="+mj-lt"/>
              </a:rPr>
              <a:t>, </a:t>
            </a:r>
            <a:r>
              <a:rPr lang="pt-BR" dirty="0">
                <a:latin typeface="+mj-lt"/>
                <a:hlinkClick r:id="rId8"/>
              </a:rPr>
              <a:t>delay()</a:t>
            </a:r>
            <a:endParaRPr lang="pt-BR" dirty="0">
              <a:latin typeface="+mj-lt"/>
            </a:endParaRPr>
          </a:p>
          <a:p>
            <a:pPr lvl="1">
              <a:spcBef>
                <a:spcPts val="100"/>
              </a:spcBef>
            </a:pPr>
            <a:r>
              <a:rPr lang="pt-BR" dirty="0">
                <a:latin typeface="+mj-lt"/>
                <a:hlinkClick r:id="rId9"/>
              </a:rPr>
              <a:t>random(), randomSeed()</a:t>
            </a:r>
          </a:p>
          <a:p>
            <a:pPr>
              <a:spcBef>
                <a:spcPts val="100"/>
              </a:spcBef>
              <a:buSzPts val="1400"/>
            </a:pPr>
            <a:r>
              <a:rPr lang="pt-BR" sz="1400" dirty="0">
                <a:latin typeface="+mj-lt"/>
              </a:rPr>
              <a:t>Representar procedimentos e funções na DSL:</a:t>
            </a:r>
          </a:p>
          <a:p>
            <a:pPr lvl="1">
              <a:spcBef>
                <a:spcPts val="100"/>
              </a:spcBef>
            </a:pPr>
            <a:r>
              <a:rPr lang="pt-BR" u="sng" dirty="0" err="1">
                <a:solidFill>
                  <a:schemeClr val="accent5">
                    <a:lumMod val="76000"/>
                  </a:schemeClr>
                </a:solidFill>
                <a:latin typeface="+mj-lt"/>
              </a:rPr>
              <a:t>void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 </a:t>
            </a:r>
            <a:r>
              <a:rPr lang="pt-BR" u="sng" dirty="0" err="1">
                <a:solidFill>
                  <a:schemeClr val="accent5">
                    <a:lumMod val="76000"/>
                  </a:schemeClr>
                </a:solidFill>
                <a:latin typeface="+mj-lt"/>
              </a:rPr>
              <a:t>blinkLED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(uint8_t LED_PIN, uint32_t times, uint32_t 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  <a:cs typeface="Arial"/>
              </a:rPr>
              <a:t>active_time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);</a:t>
            </a:r>
          </a:p>
          <a:p>
            <a:pPr lvl="1">
              <a:spcBef>
                <a:spcPts val="100"/>
              </a:spcBef>
            </a:pPr>
            <a:r>
              <a:rPr lang="pt-BR" u="sng" dirty="0" err="1">
                <a:solidFill>
                  <a:schemeClr val="accent5">
                    <a:lumMod val="76000"/>
                  </a:schemeClr>
                </a:solidFill>
                <a:latin typeface="+mj-lt"/>
              </a:rPr>
              <a:t>void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 </a:t>
            </a:r>
            <a:r>
              <a:rPr lang="pt-BR" u="sng" dirty="0" err="1">
                <a:solidFill>
                  <a:schemeClr val="accent5">
                    <a:lumMod val="76000"/>
                  </a:schemeClr>
                </a:solidFill>
                <a:latin typeface="+mj-lt"/>
              </a:rPr>
              <a:t>turnLEDOn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(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  <a:cs typeface="Arial"/>
              </a:rPr>
              <a:t>uint8_t 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LED_PIN, uint32_t active_time);</a:t>
            </a:r>
          </a:p>
          <a:p>
            <a:pPr lvl="1">
              <a:spcBef>
                <a:spcPts val="100"/>
              </a:spcBef>
            </a:pPr>
            <a:r>
              <a:rPr lang="pt-BR" u="sng" dirty="0" err="1">
                <a:solidFill>
                  <a:schemeClr val="accent5">
                    <a:lumMod val="76000"/>
                  </a:schemeClr>
                </a:solidFill>
                <a:latin typeface="+mj-lt"/>
              </a:rPr>
              <a:t>void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 </a:t>
            </a:r>
            <a:r>
              <a:rPr lang="pt-BR" u="sng" dirty="0" err="1">
                <a:solidFill>
                  <a:schemeClr val="accent5">
                    <a:lumMod val="76000"/>
                  </a:schemeClr>
                </a:solidFill>
                <a:latin typeface="+mj-lt"/>
              </a:rPr>
              <a:t>turnLEDOff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</a:rPr>
              <a:t>(</a:t>
            </a:r>
            <a:r>
              <a:rPr lang="pt-BR" u="sng" dirty="0">
                <a:solidFill>
                  <a:schemeClr val="accent5">
                    <a:lumMod val="76000"/>
                  </a:schemeClr>
                </a:solidFill>
                <a:latin typeface="+mj-lt"/>
                <a:cs typeface="Arial"/>
              </a:rPr>
              <a:t>uint8_t LED_PIN);</a:t>
            </a:r>
            <a:endParaRPr lang="pt-BR" u="sng" dirty="0">
              <a:solidFill>
                <a:schemeClr val="accent5">
                  <a:lumMod val="76000"/>
                </a:schemeClr>
              </a:solidFill>
              <a:latin typeface="+mj-lt"/>
            </a:endParaRPr>
          </a:p>
          <a:p>
            <a:pPr indent="-320040">
              <a:spcBef>
                <a:spcPts val="100"/>
              </a:spcBef>
              <a:buClr>
                <a:srgbClr val="161616"/>
              </a:buClr>
              <a:buSzPts val="1440"/>
              <a:buFont typeface="Arial"/>
              <a:buChar char="●"/>
            </a:pPr>
            <a:endParaRPr lang="pt-BR" sz="1440">
              <a:solidFill>
                <a:srgbClr val="161616"/>
              </a:solidFill>
              <a:highlight>
                <a:srgbClr val="FFFFFF"/>
              </a:highlight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97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C3AA5-6B36-E685-41EC-2124DDE1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1B1471-89D4-2A72-CAE2-2A1E7D286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157686" cy="34164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900" dirty="0"/>
              <a:t>Considere o seguinte código escrito em C na IDE do Arduino</a:t>
            </a:r>
          </a:p>
          <a:p>
            <a:pPr>
              <a:buNone/>
            </a:pPr>
            <a:endParaRPr lang="pt-BR" sz="900" dirty="0"/>
          </a:p>
          <a:p>
            <a:pPr>
              <a:buNone/>
            </a:pPr>
            <a:r>
              <a:rPr lang="pt-BR" sz="900" err="1"/>
              <a:t>void</a:t>
            </a:r>
            <a:r>
              <a:rPr lang="pt-BR" sz="900" dirty="0"/>
              <a:t> setup() {</a:t>
            </a:r>
          </a:p>
          <a:p>
            <a:pPr>
              <a:buNone/>
            </a:pPr>
            <a:r>
              <a:rPr lang="pt-BR" sz="900" dirty="0"/>
              <a:t>  </a:t>
            </a:r>
            <a:r>
              <a:rPr lang="pt-BR" sz="900" err="1"/>
              <a:t>pinMode</a:t>
            </a:r>
            <a:r>
              <a:rPr lang="pt-BR" sz="900" dirty="0"/>
              <a:t>(13, OUTPUT);</a:t>
            </a:r>
          </a:p>
          <a:p>
            <a:pPr>
              <a:buNone/>
            </a:pPr>
            <a:r>
              <a:rPr lang="pt-BR" sz="900" dirty="0"/>
              <a:t>  </a:t>
            </a:r>
            <a:r>
              <a:rPr lang="pt-BR" sz="900" err="1"/>
              <a:t>pinMode</a:t>
            </a:r>
            <a:r>
              <a:rPr lang="pt-BR" sz="900" dirty="0"/>
              <a:t>(12, OUTPUT);</a:t>
            </a:r>
          </a:p>
          <a:p>
            <a:pPr>
              <a:buNone/>
            </a:pPr>
            <a:r>
              <a:rPr lang="pt-BR" sz="900" dirty="0"/>
              <a:t>}</a:t>
            </a:r>
          </a:p>
          <a:p>
            <a:pPr>
              <a:buNone/>
            </a:pPr>
            <a:endParaRPr lang="pt-BR" sz="900" dirty="0"/>
          </a:p>
          <a:p>
            <a:pPr>
              <a:buNone/>
            </a:pPr>
            <a:r>
              <a:rPr lang="pt-BR" sz="900" err="1"/>
              <a:t>void</a:t>
            </a:r>
            <a:r>
              <a:rPr lang="pt-BR" sz="900" dirty="0"/>
              <a:t> loop() {</a:t>
            </a:r>
          </a:p>
          <a:p>
            <a:pPr>
              <a:buNone/>
            </a:pPr>
            <a:r>
              <a:rPr lang="pt-BR" sz="900" dirty="0"/>
              <a:t>  </a:t>
            </a:r>
            <a:r>
              <a:rPr lang="pt-BR" sz="900" err="1"/>
              <a:t>digitalWrite</a:t>
            </a:r>
            <a:r>
              <a:rPr lang="pt-BR" sz="900" dirty="0"/>
              <a:t>(13, HIGH);</a:t>
            </a:r>
          </a:p>
          <a:p>
            <a:pPr>
              <a:buNone/>
            </a:pPr>
            <a:r>
              <a:rPr lang="pt-BR" sz="900" dirty="0"/>
              <a:t>  delay(2000);</a:t>
            </a:r>
          </a:p>
          <a:p>
            <a:pPr>
              <a:buNone/>
            </a:pPr>
            <a:r>
              <a:rPr lang="pt-BR" sz="900" dirty="0"/>
              <a:t>  </a:t>
            </a:r>
            <a:r>
              <a:rPr lang="pt-BR" sz="900" err="1"/>
              <a:t>digitalWrite</a:t>
            </a:r>
            <a:r>
              <a:rPr lang="pt-BR" sz="900" dirty="0"/>
              <a:t>(13, LOW);</a:t>
            </a:r>
          </a:p>
          <a:p>
            <a:pPr>
              <a:buNone/>
            </a:pPr>
            <a:r>
              <a:rPr lang="pt-BR" sz="900" dirty="0"/>
              <a:t>  for (</a:t>
            </a:r>
            <a:r>
              <a:rPr lang="pt-BR" sz="900" err="1"/>
              <a:t>int</a:t>
            </a:r>
            <a:r>
              <a:rPr lang="pt-BR" sz="900" dirty="0"/>
              <a:t> i = 0; i &lt; 3; i++) {</a:t>
            </a:r>
          </a:p>
          <a:p>
            <a:pPr>
              <a:buNone/>
            </a:pPr>
            <a:r>
              <a:rPr lang="pt-BR" sz="900" dirty="0"/>
              <a:t>    </a:t>
            </a:r>
            <a:r>
              <a:rPr lang="pt-BR" sz="900" err="1"/>
              <a:t>digitalWrite</a:t>
            </a:r>
            <a:r>
              <a:rPr lang="pt-BR" sz="900" dirty="0"/>
              <a:t>(12, HIGH);</a:t>
            </a:r>
          </a:p>
          <a:p>
            <a:pPr>
              <a:buNone/>
            </a:pPr>
            <a:r>
              <a:rPr lang="pt-BR" sz="900" dirty="0"/>
              <a:t>    delay(1000);</a:t>
            </a:r>
          </a:p>
          <a:p>
            <a:pPr>
              <a:buNone/>
            </a:pPr>
            <a:r>
              <a:rPr lang="pt-BR" sz="900" dirty="0"/>
              <a:t>    </a:t>
            </a:r>
            <a:r>
              <a:rPr lang="pt-BR" sz="900" err="1"/>
              <a:t>digitalWrite</a:t>
            </a:r>
            <a:r>
              <a:rPr lang="pt-BR" sz="900" dirty="0"/>
              <a:t>(12, LOW);</a:t>
            </a:r>
          </a:p>
          <a:p>
            <a:pPr>
              <a:buNone/>
            </a:pPr>
            <a:r>
              <a:rPr lang="pt-BR" sz="900" dirty="0"/>
              <a:t>  }</a:t>
            </a:r>
          </a:p>
          <a:p>
            <a:pPr>
              <a:buNone/>
            </a:pPr>
            <a:r>
              <a:rPr lang="pt-BR" sz="900" dirty="0"/>
              <a:t>}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848A62AE-D0D3-F41B-6A72-0EFB22483815}"/>
              </a:ext>
            </a:extLst>
          </p:cNvPr>
          <p:cNvSpPr txBox="1">
            <a:spLocks/>
          </p:cNvSpPr>
          <p:nvPr/>
        </p:nvSpPr>
        <p:spPr>
          <a:xfrm>
            <a:off x="4394905" y="1158515"/>
            <a:ext cx="415768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sz="900" dirty="0"/>
              <a:t>Este código poderia ser escrito na DSL da seguinte maneira</a:t>
            </a:r>
          </a:p>
          <a:p>
            <a:pPr>
              <a:buFont typeface="Roboto"/>
              <a:buNone/>
            </a:pPr>
            <a:endParaRPr lang="pt-BR" sz="900" dirty="0"/>
          </a:p>
          <a:p>
            <a:pPr>
              <a:buNone/>
            </a:pPr>
            <a:r>
              <a:rPr lang="pt-BR" sz="900" dirty="0"/>
              <a:t>ligar led 13</a:t>
            </a:r>
          </a:p>
          <a:p>
            <a:pPr>
              <a:buNone/>
            </a:pPr>
            <a:r>
              <a:rPr lang="pt-BR" sz="900" dirty="0"/>
              <a:t>esperar 2 segundos</a:t>
            </a:r>
          </a:p>
          <a:p>
            <a:pPr>
              <a:buNone/>
            </a:pPr>
            <a:r>
              <a:rPr lang="pt-BR" sz="900" dirty="0"/>
              <a:t>desligar led 13</a:t>
            </a:r>
          </a:p>
          <a:p>
            <a:pPr>
              <a:buNone/>
            </a:pPr>
            <a:r>
              <a:rPr lang="pt-BR" sz="900" dirty="0"/>
              <a:t>repetir 3 vezes {</a:t>
            </a:r>
          </a:p>
          <a:p>
            <a:pPr>
              <a:buNone/>
            </a:pPr>
            <a:r>
              <a:rPr lang="pt-BR" sz="900" dirty="0"/>
              <a:t>    ligar led 12</a:t>
            </a:r>
          </a:p>
          <a:p>
            <a:pPr>
              <a:buNone/>
            </a:pPr>
            <a:r>
              <a:rPr lang="pt-BR" sz="900" dirty="0"/>
              <a:t>    esperar 1 segundo</a:t>
            </a:r>
          </a:p>
          <a:p>
            <a:pPr>
              <a:buNone/>
            </a:pPr>
            <a:r>
              <a:rPr lang="pt-BR" sz="900" dirty="0"/>
              <a:t>    desligar led 12</a:t>
            </a:r>
          </a:p>
          <a:p>
            <a:pPr>
              <a:buNone/>
            </a:pPr>
            <a:r>
              <a:rPr lang="pt-BR" sz="900" dirty="0"/>
              <a:t>}</a:t>
            </a:r>
          </a:p>
          <a:p>
            <a:r>
              <a:rPr lang="pt-BR" sz="900" dirty="0"/>
              <a:t>Ou mais resumidamente:</a:t>
            </a:r>
          </a:p>
          <a:p>
            <a:pPr marL="114300" indent="0">
              <a:buNone/>
            </a:pPr>
            <a:r>
              <a:rPr lang="pt-BR" sz="900"/>
              <a:t>ligar led 13 por 2 segundos</a:t>
            </a:r>
          </a:p>
          <a:p>
            <a:pPr marL="114300" indent="0">
              <a:buNone/>
            </a:pPr>
            <a:r>
              <a:rPr lang="pt-BR" sz="900"/>
              <a:t>Piscar led 12 por 1 segundo 3 vezes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98963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4621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80000"/>
              </a:lnSpc>
              <a:buClr>
                <a:schemeClr val="dk1"/>
              </a:buClr>
              <a:buSzPts val="935"/>
            </a:pPr>
            <a:r>
              <a:rPr lang="pt-BR" sz="1800"/>
              <a:t>Desenvolvimento de uma DSL para projetos em Arduino</a:t>
            </a:r>
            <a:endParaRPr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Apresentação na tela (16:9)</PresentationFormat>
  <Paragraphs>40</Paragraphs>
  <Slides>8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Simple Light</vt:lpstr>
      <vt:lpstr>Desenvolvimento de uma DSL para projetos em Arduino</vt:lpstr>
      <vt:lpstr>Introdução</vt:lpstr>
      <vt:lpstr>Problema</vt:lpstr>
      <vt:lpstr>Solução proposta</vt:lpstr>
      <vt:lpstr>Objetivo</vt:lpstr>
      <vt:lpstr>Sintaxe: </vt:lpstr>
      <vt:lpstr>Exemplo</vt:lpstr>
      <vt:lpstr>Dúvidas?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Marcus Vinícius de Faria Santos</dc:creator>
  <cp:lastModifiedBy>Marcus Vinícius de Faria Santos</cp:lastModifiedBy>
  <cp:revision>103</cp:revision>
  <dcterms:modified xsi:type="dcterms:W3CDTF">2025-10-30T11:18:46Z</dcterms:modified>
</cp:coreProperties>
</file>